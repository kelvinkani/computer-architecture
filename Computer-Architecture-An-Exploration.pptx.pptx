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lice" charset="1" panose="00000500000000000000"/>
      <p:regular r:id="rId17"/>
    </p:embeddedFont>
    <p:embeddedFont>
      <p:font typeface="Lora" charset="1" panose="00000500000000000000"/>
      <p:regular r:id="rId18"/>
    </p:embeddedFont>
    <p:embeddedFont>
      <p:font typeface="Lora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25685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50237" y="2276475"/>
            <a:ext cx="9445526" cy="1771947"/>
            <a:chOff x="0" y="0"/>
            <a:chExt cx="12594035" cy="23625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Computer Architecture: An Exploration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50237" y="4473625"/>
            <a:ext cx="9445526" cy="2721769"/>
            <a:chOff x="0" y="0"/>
            <a:chExt cx="12594035" cy="36290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4035" cy="3629025"/>
            </a:xfrm>
            <a:custGeom>
              <a:avLst/>
              <a:gdLst/>
              <a:ahLst/>
              <a:cxnLst/>
              <a:rect r="r" b="b" t="t" l="l"/>
              <a:pathLst>
                <a:path h="362902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629025"/>
                  </a:lnTo>
                  <a:lnTo>
                    <a:pt x="0" y="3629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2594035" cy="37147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Computer architecture is the blueprint for designing and building computing systems, encompassing both hardware and software components. It's a dynamic field that evolves alongside technological advancements, aiming to optimize performance, efficiency, and cost. This presentation explores the fundamentals of computer architecture, its evolution, and the trends shaping its future.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418746" y="9445554"/>
            <a:ext cx="4233565" cy="841446"/>
            <a:chOff x="0" y="0"/>
            <a:chExt cx="5644753" cy="11219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44754" cy="1121928"/>
            </a:xfrm>
            <a:custGeom>
              <a:avLst/>
              <a:gdLst/>
              <a:ahLst/>
              <a:cxnLst/>
              <a:rect r="r" b="b" t="t" l="l"/>
              <a:pathLst>
                <a:path h="1121928" w="5644754">
                  <a:moveTo>
                    <a:pt x="0" y="0"/>
                  </a:moveTo>
                  <a:lnTo>
                    <a:pt x="5644754" y="0"/>
                  </a:lnTo>
                  <a:lnTo>
                    <a:pt x="5644754" y="1121928"/>
                  </a:lnTo>
                  <a:lnTo>
                    <a:pt x="0" y="11219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644753" cy="116955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29"/>
                </a:lnSpc>
              </a:pPr>
              <a:r>
                <a:rPr lang="en-US" sz="2150" b="true">
                  <a:solidFill>
                    <a:srgbClr val="2C2821"/>
                  </a:solidFill>
                  <a:latin typeface="Lora Bold"/>
                  <a:ea typeface="Lora Bold"/>
                  <a:cs typeface="Lora Bold"/>
                  <a:sym typeface="Lora Bold"/>
                </a:rPr>
                <a:t>Name:Kelvin Kani</a:t>
              </a:r>
            </a:p>
            <a:p>
              <a:pPr algn="l">
                <a:lnSpc>
                  <a:spcPts val="3029"/>
                </a:lnSpc>
              </a:pPr>
              <a:r>
                <a:rPr lang="en-US" sz="2150" b="true">
                  <a:solidFill>
                    <a:srgbClr val="2C2821"/>
                  </a:solidFill>
                  <a:latin typeface="Lora Bold"/>
                  <a:ea typeface="Lora Bold"/>
                  <a:cs typeface="Lora Bold"/>
                  <a:sym typeface="Lora Bold"/>
                </a:rPr>
                <a:t>Reg no : SCT212-0677/2021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661731" y="125685"/>
            <a:ext cx="7833329" cy="10451545"/>
          </a:xfrm>
          <a:custGeom>
            <a:avLst/>
            <a:gdLst/>
            <a:ahLst/>
            <a:cxnLst/>
            <a:rect r="r" b="b" t="t" l="l"/>
            <a:pathLst>
              <a:path h="10451545" w="7833329">
                <a:moveTo>
                  <a:pt x="0" y="0"/>
                </a:moveTo>
                <a:lnTo>
                  <a:pt x="7833329" y="0"/>
                </a:lnTo>
                <a:lnTo>
                  <a:pt x="7833329" y="10451545"/>
                </a:lnTo>
                <a:lnTo>
                  <a:pt x="0" y="104515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7040" t="0" r="-5704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19424"/>
            <a:ext cx="11923514" cy="885974"/>
            <a:chOff x="0" y="0"/>
            <a:chExt cx="15898018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898019" cy="1181298"/>
            </a:xfrm>
            <a:custGeom>
              <a:avLst/>
              <a:gdLst/>
              <a:ahLst/>
              <a:cxnLst/>
              <a:rect r="r" b="b" t="t" l="l"/>
              <a:pathLst>
                <a:path h="1181298" w="15898019">
                  <a:moveTo>
                    <a:pt x="0" y="0"/>
                  </a:moveTo>
                  <a:lnTo>
                    <a:pt x="15898019" y="0"/>
                  </a:lnTo>
                  <a:lnTo>
                    <a:pt x="15898019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898018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Classifying the Computing Landscape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3414118"/>
            <a:ext cx="3556993" cy="885825"/>
            <a:chOff x="0" y="0"/>
            <a:chExt cx="4742657" cy="1181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42657" cy="1181100"/>
            </a:xfrm>
            <a:custGeom>
              <a:avLst/>
              <a:gdLst/>
              <a:ahLst/>
              <a:cxnLst/>
              <a:rect r="r" b="b" t="t" l="l"/>
              <a:pathLst>
                <a:path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42657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Personal Mobile Devices (PMD)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4583460"/>
            <a:ext cx="3556993" cy="3629025"/>
            <a:chOff x="0" y="0"/>
            <a:chExt cx="4742657" cy="4838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42657" cy="4838700"/>
            </a:xfrm>
            <a:custGeom>
              <a:avLst/>
              <a:gdLst/>
              <a:ahLst/>
              <a:cxnLst/>
              <a:rect r="r" b="b" t="t" l="l"/>
              <a:pathLst>
                <a:path h="48387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4838700"/>
                  </a:lnTo>
                  <a:lnTo>
                    <a:pt x="0" y="4838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85725"/>
              <a:ext cx="4742657" cy="49244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Portable devices like smartphones and tablets, emphasizing user experience, battery life, and mobility. These PMDs are constantly evolving, becoming more powerful and capable.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50508" y="3414118"/>
            <a:ext cx="3544044" cy="442912"/>
            <a:chOff x="0" y="0"/>
            <a:chExt cx="4725392" cy="5905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Desktops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50508" y="4140548"/>
            <a:ext cx="3556993" cy="3175397"/>
            <a:chOff x="0" y="0"/>
            <a:chExt cx="4742657" cy="423386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42657" cy="4233863"/>
            </a:xfrm>
            <a:custGeom>
              <a:avLst/>
              <a:gdLst/>
              <a:ahLst/>
              <a:cxnLst/>
              <a:rect r="r" b="b" t="t" l="l"/>
              <a:pathLst>
                <a:path h="423386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4233863"/>
                  </a:lnTo>
                  <a:lnTo>
                    <a:pt x="0" y="4233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4742657" cy="43195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Traditional desktop computers designed for general-purpose computing tasks. These devices are designed for high performance and expandability.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8777" y="3414118"/>
            <a:ext cx="3544044" cy="442912"/>
            <a:chOff x="0" y="0"/>
            <a:chExt cx="4725392" cy="5905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Servers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8777" y="4140548"/>
            <a:ext cx="3556993" cy="3629025"/>
            <a:chOff x="0" y="0"/>
            <a:chExt cx="4742657" cy="4838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42657" cy="4838700"/>
            </a:xfrm>
            <a:custGeom>
              <a:avLst/>
              <a:gdLst/>
              <a:ahLst/>
              <a:cxnLst/>
              <a:rect r="r" b="b" t="t" l="l"/>
              <a:pathLst>
                <a:path h="48387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4838700"/>
                  </a:lnTo>
                  <a:lnTo>
                    <a:pt x="0" y="4838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4742657" cy="49244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High-performance computers designed to support multiple users and applications simultaneously. They provide a platform for data storage, web services, and enterprise applications.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67047" y="3414118"/>
            <a:ext cx="3556992" cy="885825"/>
            <a:chOff x="0" y="0"/>
            <a:chExt cx="4742657" cy="1181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42657" cy="1181100"/>
            </a:xfrm>
            <a:custGeom>
              <a:avLst/>
              <a:gdLst/>
              <a:ahLst/>
              <a:cxnLst/>
              <a:rect r="r" b="b" t="t" l="l"/>
              <a:pathLst>
                <a:path h="11811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742657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Warehouse-Scale Computers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67047" y="4583460"/>
            <a:ext cx="3556992" cy="3629025"/>
            <a:chOff x="0" y="0"/>
            <a:chExt cx="4742657" cy="4838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42657" cy="4838700"/>
            </a:xfrm>
            <a:custGeom>
              <a:avLst/>
              <a:gdLst/>
              <a:ahLst/>
              <a:cxnLst/>
              <a:rect r="r" b="b" t="t" l="l"/>
              <a:pathLst>
                <a:path h="4838700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4838700"/>
                  </a:lnTo>
                  <a:lnTo>
                    <a:pt x="0" y="4838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4742657" cy="49244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Massive clusters of interconnected servers, capable of handling massive data processing tasks. These computers are used for cloud computing and large-scale data analysis.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212776"/>
            <a:ext cx="10322570" cy="885974"/>
            <a:chOff x="0" y="0"/>
            <a:chExt cx="13763427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763427" cy="1181298"/>
            </a:xfrm>
            <a:custGeom>
              <a:avLst/>
              <a:gdLst/>
              <a:ahLst/>
              <a:cxnLst/>
              <a:rect r="r" b="b" t="t" l="l"/>
              <a:pathLst>
                <a:path h="1181298" w="13763427">
                  <a:moveTo>
                    <a:pt x="0" y="0"/>
                  </a:moveTo>
                  <a:lnTo>
                    <a:pt x="13763427" y="0"/>
                  </a:lnTo>
                  <a:lnTo>
                    <a:pt x="13763427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3763427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Defining Computer 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3842891"/>
            <a:ext cx="637878" cy="637878"/>
            <a:chOff x="0" y="0"/>
            <a:chExt cx="850503" cy="8505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575" y="3896022"/>
            <a:ext cx="425202" cy="531614"/>
            <a:chOff x="0" y="0"/>
            <a:chExt cx="566937" cy="708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13632" y="3842891"/>
            <a:ext cx="4324052" cy="885825"/>
            <a:chOff x="0" y="0"/>
            <a:chExt cx="5765403" cy="1181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65404" cy="1181100"/>
            </a:xfrm>
            <a:custGeom>
              <a:avLst/>
              <a:gdLst/>
              <a:ahLst/>
              <a:cxnLst/>
              <a:rect r="r" b="b" t="t" l="l"/>
              <a:pathLst>
                <a:path h="1181100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765403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Instruction Set Architecture (ISA)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3632" y="4898826"/>
            <a:ext cx="4324052" cy="3175397"/>
            <a:chOff x="0" y="0"/>
            <a:chExt cx="5765403" cy="42338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5404" cy="4233863"/>
            </a:xfrm>
            <a:custGeom>
              <a:avLst/>
              <a:gdLst/>
              <a:ahLst/>
              <a:cxnLst/>
              <a:rect r="r" b="b" t="t" l="l"/>
              <a:pathLst>
                <a:path h="4233863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4233863"/>
                  </a:lnTo>
                  <a:lnTo>
                    <a:pt x="0" y="4233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765403" cy="43195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The ISA defines the instructions that a processor can understand and execute. It forms the interface between software and hardware, determining the operations that can be performed.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21202" y="3842891"/>
            <a:ext cx="637878" cy="637878"/>
            <a:chOff x="0" y="0"/>
            <a:chExt cx="850503" cy="8505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27540" y="3896022"/>
            <a:ext cx="425203" cy="531614"/>
            <a:chOff x="0" y="0"/>
            <a:chExt cx="566937" cy="7088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42598" y="3842891"/>
            <a:ext cx="3544044" cy="442912"/>
            <a:chOff x="0" y="0"/>
            <a:chExt cx="4725392" cy="5905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Hardware Design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42598" y="4455914"/>
            <a:ext cx="4324052" cy="1814512"/>
            <a:chOff x="0" y="0"/>
            <a:chExt cx="5765403" cy="24193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5404" cy="2419350"/>
            </a:xfrm>
            <a:custGeom>
              <a:avLst/>
              <a:gdLst/>
              <a:ahLst/>
              <a:cxnLst/>
              <a:rect r="r" b="b" t="t" l="l"/>
              <a:pathLst>
                <a:path h="2419350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5765403" cy="2505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The physical implementation of the processor, including its logic circuits, memory organization, and input/output interfaces.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50166" y="3842891"/>
            <a:ext cx="637877" cy="637878"/>
            <a:chOff x="0" y="0"/>
            <a:chExt cx="850503" cy="8505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56505" y="3896022"/>
            <a:ext cx="425203" cy="531614"/>
            <a:chOff x="0" y="0"/>
            <a:chExt cx="566937" cy="7088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971561" y="3842891"/>
            <a:ext cx="3544044" cy="442912"/>
            <a:chOff x="0" y="0"/>
            <a:chExt cx="4725392" cy="5905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Organizational Design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71561" y="4455914"/>
            <a:ext cx="4324052" cy="2268141"/>
            <a:chOff x="0" y="0"/>
            <a:chExt cx="5765403" cy="30241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65404" cy="3024188"/>
            </a:xfrm>
            <a:custGeom>
              <a:avLst/>
              <a:gdLst/>
              <a:ahLst/>
              <a:cxnLst/>
              <a:rect r="r" b="b" t="t" l="l"/>
              <a:pathLst>
                <a:path h="3024188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5765403" cy="31099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The overall structure of the computer system, including the interconnections between components, data flow, and control mechanisms.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02457"/>
            <a:ext cx="11699527" cy="885974"/>
            <a:chOff x="0" y="0"/>
            <a:chExt cx="15599370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99370" cy="1181298"/>
            </a:xfrm>
            <a:custGeom>
              <a:avLst/>
              <a:gdLst/>
              <a:ahLst/>
              <a:cxnLst/>
              <a:rect r="r" b="b" t="t" l="l"/>
              <a:pathLst>
                <a:path h="1181298" w="15599370">
                  <a:moveTo>
                    <a:pt x="0" y="0"/>
                  </a:moveTo>
                  <a:lnTo>
                    <a:pt x="15599370" y="0"/>
                  </a:lnTo>
                  <a:lnTo>
                    <a:pt x="15599370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599370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Technology's Impact on Performance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24950" y="3113634"/>
            <a:ext cx="38100" cy="5370760"/>
            <a:chOff x="0" y="0"/>
            <a:chExt cx="50800" cy="71610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7161022"/>
            </a:xfrm>
            <a:custGeom>
              <a:avLst/>
              <a:gdLst/>
              <a:ahLst/>
              <a:cxnLst/>
              <a:rect r="r" b="b" t="t" l="l"/>
              <a:pathLst>
                <a:path h="7161022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7135622"/>
                  </a:lnTo>
                  <a:cubicBezTo>
                    <a:pt x="50800" y="7149592"/>
                    <a:pt x="39370" y="7161022"/>
                    <a:pt x="25400" y="7161022"/>
                  </a:cubicBezTo>
                  <a:cubicBezTo>
                    <a:pt x="11430" y="7161022"/>
                    <a:pt x="0" y="7149592"/>
                    <a:pt x="0" y="7135622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12609" y="3732460"/>
            <a:ext cx="850552" cy="38100"/>
            <a:chOff x="0" y="0"/>
            <a:chExt cx="113407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25061" y="3432572"/>
            <a:ext cx="637878" cy="637878"/>
            <a:chOff x="0" y="0"/>
            <a:chExt cx="850503" cy="8505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31399" y="3485704"/>
            <a:ext cx="425203" cy="531614"/>
            <a:chOff x="0" y="0"/>
            <a:chExt cx="566937" cy="7088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82367" y="3397151"/>
            <a:ext cx="3544044" cy="442912"/>
            <a:chOff x="0" y="0"/>
            <a:chExt cx="4725392" cy="5905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Moore's Law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92238" y="4010174"/>
            <a:ext cx="6734175" cy="1360885"/>
            <a:chOff x="0" y="0"/>
            <a:chExt cx="8978900" cy="181451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978900" cy="1814513"/>
            </a:xfrm>
            <a:custGeom>
              <a:avLst/>
              <a:gdLst/>
              <a:ahLst/>
              <a:cxnLst/>
              <a:rect r="r" b="b" t="t" l="l"/>
              <a:pathLst>
                <a:path h="1814513" w="8978900">
                  <a:moveTo>
                    <a:pt x="0" y="0"/>
                  </a:moveTo>
                  <a:lnTo>
                    <a:pt x="8978900" y="0"/>
                  </a:lnTo>
                  <a:lnTo>
                    <a:pt x="897890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8978900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Predicting exponential growth in transistor density on integrated circuits, driving performance improvements for decades.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4839" y="5150049"/>
            <a:ext cx="850553" cy="38100"/>
            <a:chOff x="0" y="0"/>
            <a:chExt cx="1134070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825061" y="4850160"/>
            <a:ext cx="637878" cy="637878"/>
            <a:chOff x="0" y="0"/>
            <a:chExt cx="850503" cy="8505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931399" y="4903291"/>
            <a:ext cx="425203" cy="531614"/>
            <a:chOff x="0" y="0"/>
            <a:chExt cx="566937" cy="70881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561587" y="4814739"/>
            <a:ext cx="4158854" cy="442912"/>
            <a:chOff x="0" y="0"/>
            <a:chExt cx="5545138" cy="5905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545138" cy="590550"/>
            </a:xfrm>
            <a:custGeom>
              <a:avLst/>
              <a:gdLst/>
              <a:ahLst/>
              <a:cxnLst/>
              <a:rect r="r" b="b" t="t" l="l"/>
              <a:pathLst>
                <a:path h="590550" w="5545138">
                  <a:moveTo>
                    <a:pt x="0" y="0"/>
                  </a:moveTo>
                  <a:lnTo>
                    <a:pt x="5545138" y="0"/>
                  </a:lnTo>
                  <a:lnTo>
                    <a:pt x="5545138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545138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Bandwidth Improvements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61587" y="5427761"/>
            <a:ext cx="6734175" cy="1360885"/>
            <a:chOff x="0" y="0"/>
            <a:chExt cx="8978900" cy="18145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78900" cy="1814513"/>
            </a:xfrm>
            <a:custGeom>
              <a:avLst/>
              <a:gdLst/>
              <a:ahLst/>
              <a:cxnLst/>
              <a:rect r="r" b="b" t="t" l="l"/>
              <a:pathLst>
                <a:path h="1814513" w="8978900">
                  <a:moveTo>
                    <a:pt x="0" y="0"/>
                  </a:moveTo>
                  <a:lnTo>
                    <a:pt x="8978900" y="0"/>
                  </a:lnTo>
                  <a:lnTo>
                    <a:pt x="897890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85725"/>
              <a:ext cx="8978900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Increased data transfer rates between components, enabling faster data access and communication within the system.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12609" y="6562279"/>
            <a:ext cx="850552" cy="38100"/>
            <a:chOff x="0" y="0"/>
            <a:chExt cx="1134070" cy="5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6D3CC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825061" y="6262390"/>
            <a:ext cx="637878" cy="637877"/>
            <a:chOff x="0" y="0"/>
            <a:chExt cx="850503" cy="85050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8931399" y="6315521"/>
            <a:ext cx="425203" cy="531614"/>
            <a:chOff x="0" y="0"/>
            <a:chExt cx="566937" cy="7088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182367" y="6226969"/>
            <a:ext cx="3544044" cy="442912"/>
            <a:chOff x="0" y="0"/>
            <a:chExt cx="4725392" cy="5905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Parallel Processing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92238" y="6839991"/>
            <a:ext cx="6734175" cy="1360885"/>
            <a:chOff x="0" y="0"/>
            <a:chExt cx="8978900" cy="181451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78900" cy="1814513"/>
            </a:xfrm>
            <a:custGeom>
              <a:avLst/>
              <a:gdLst/>
              <a:ahLst/>
              <a:cxnLst/>
              <a:rect r="r" b="b" t="t" l="l"/>
              <a:pathLst>
                <a:path h="1814513" w="8978900">
                  <a:moveTo>
                    <a:pt x="0" y="0"/>
                  </a:moveTo>
                  <a:lnTo>
                    <a:pt x="8978900" y="0"/>
                  </a:lnTo>
                  <a:lnTo>
                    <a:pt x="8978900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8978900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r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Dividing computational tasks among multiple processors or cores, enhancing performance for complex calculations.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74349" y="881753"/>
            <a:ext cx="9563100" cy="1667172"/>
            <a:chOff x="0" y="0"/>
            <a:chExt cx="12750800" cy="22228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50800" cy="2222897"/>
            </a:xfrm>
            <a:custGeom>
              <a:avLst/>
              <a:gdLst/>
              <a:ahLst/>
              <a:cxnLst/>
              <a:rect r="r" b="b" t="t" l="l"/>
              <a:pathLst>
                <a:path h="2222897" w="12750800">
                  <a:moveTo>
                    <a:pt x="0" y="0"/>
                  </a:moveTo>
                  <a:lnTo>
                    <a:pt x="12750800" y="0"/>
                  </a:lnTo>
                  <a:lnTo>
                    <a:pt x="12750800" y="2222897"/>
                  </a:lnTo>
                  <a:lnTo>
                    <a:pt x="0" y="22228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50800" cy="22609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562"/>
                </a:lnSpc>
              </a:pPr>
              <a:r>
                <a:rPr lang="en-US" sz="5250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Power and Energy Efficiency in Integrated Circuits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3450" y="3013472"/>
            <a:ext cx="4648200" cy="3670250"/>
            <a:chOff x="0" y="0"/>
            <a:chExt cx="6197600" cy="48936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97600" cy="4893691"/>
            </a:xfrm>
            <a:custGeom>
              <a:avLst/>
              <a:gdLst/>
              <a:ahLst/>
              <a:cxnLst/>
              <a:rect r="r" b="b" t="t" l="l"/>
              <a:pathLst>
                <a:path h="4893691" w="6197600">
                  <a:moveTo>
                    <a:pt x="0" y="53340"/>
                  </a:moveTo>
                  <a:cubicBezTo>
                    <a:pt x="0" y="23876"/>
                    <a:pt x="23876" y="0"/>
                    <a:pt x="53340" y="0"/>
                  </a:cubicBezTo>
                  <a:lnTo>
                    <a:pt x="6144260" y="0"/>
                  </a:lnTo>
                  <a:cubicBezTo>
                    <a:pt x="6173724" y="0"/>
                    <a:pt x="6197600" y="23876"/>
                    <a:pt x="6197600" y="53340"/>
                  </a:cubicBezTo>
                  <a:lnTo>
                    <a:pt x="6197600" y="4840351"/>
                  </a:lnTo>
                  <a:cubicBezTo>
                    <a:pt x="6197600" y="4869815"/>
                    <a:pt x="6173724" y="4893691"/>
                    <a:pt x="6144260" y="4893691"/>
                  </a:cubicBezTo>
                  <a:lnTo>
                    <a:pt x="53340" y="4893691"/>
                  </a:lnTo>
                  <a:cubicBezTo>
                    <a:pt x="23876" y="4893691"/>
                    <a:pt x="0" y="4869815"/>
                    <a:pt x="0" y="4840351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00150" y="3280171"/>
            <a:ext cx="3334196" cy="416719"/>
            <a:chOff x="0" y="0"/>
            <a:chExt cx="4445595" cy="555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595" cy="555625"/>
            </a:xfrm>
            <a:custGeom>
              <a:avLst/>
              <a:gdLst/>
              <a:ahLst/>
              <a:cxnLst/>
              <a:rect r="r" b="b" t="t" l="l"/>
              <a:pathLst>
                <a:path h="555625" w="4445595">
                  <a:moveTo>
                    <a:pt x="0" y="0"/>
                  </a:moveTo>
                  <a:lnTo>
                    <a:pt x="4445595" y="0"/>
                  </a:lnTo>
                  <a:lnTo>
                    <a:pt x="4445595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445595" cy="574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Power Consumption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0150" y="3856881"/>
            <a:ext cx="4114800" cy="2560141"/>
            <a:chOff x="0" y="0"/>
            <a:chExt cx="5486400" cy="34135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86400" cy="3413522"/>
            </a:xfrm>
            <a:custGeom>
              <a:avLst/>
              <a:gdLst/>
              <a:ahLst/>
              <a:cxnLst/>
              <a:rect r="r" b="b" t="t" l="l"/>
              <a:pathLst>
                <a:path h="341352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413522"/>
                  </a:lnTo>
                  <a:lnTo>
                    <a:pt x="0" y="34135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5486400" cy="34992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The amount of electrical energy consumed by a microprocessor or system. It's crucial for battery life in mobile devices and for thermal management in high-performance systems.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04573" y="3013472"/>
            <a:ext cx="4648200" cy="3670250"/>
            <a:chOff x="0" y="0"/>
            <a:chExt cx="6197600" cy="48936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97600" cy="4893691"/>
            </a:xfrm>
            <a:custGeom>
              <a:avLst/>
              <a:gdLst/>
              <a:ahLst/>
              <a:cxnLst/>
              <a:rect r="r" b="b" t="t" l="l"/>
              <a:pathLst>
                <a:path h="4893691" w="6197600">
                  <a:moveTo>
                    <a:pt x="0" y="53340"/>
                  </a:moveTo>
                  <a:cubicBezTo>
                    <a:pt x="0" y="23876"/>
                    <a:pt x="23876" y="0"/>
                    <a:pt x="53340" y="0"/>
                  </a:cubicBezTo>
                  <a:lnTo>
                    <a:pt x="6144260" y="0"/>
                  </a:lnTo>
                  <a:cubicBezTo>
                    <a:pt x="6173724" y="0"/>
                    <a:pt x="6197600" y="23876"/>
                    <a:pt x="6197600" y="53340"/>
                  </a:cubicBezTo>
                  <a:lnTo>
                    <a:pt x="6197600" y="4840351"/>
                  </a:lnTo>
                  <a:cubicBezTo>
                    <a:pt x="6197600" y="4869815"/>
                    <a:pt x="6173724" y="4893691"/>
                    <a:pt x="6144260" y="4893691"/>
                  </a:cubicBezTo>
                  <a:lnTo>
                    <a:pt x="53340" y="4893691"/>
                  </a:lnTo>
                  <a:cubicBezTo>
                    <a:pt x="23876" y="4893691"/>
                    <a:pt x="0" y="4869815"/>
                    <a:pt x="0" y="4840351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451732" y="3280171"/>
            <a:ext cx="3334196" cy="416719"/>
            <a:chOff x="0" y="0"/>
            <a:chExt cx="4445595" cy="5556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595" cy="555625"/>
            </a:xfrm>
            <a:custGeom>
              <a:avLst/>
              <a:gdLst/>
              <a:ahLst/>
              <a:cxnLst/>
              <a:rect r="r" b="b" t="t" l="l"/>
              <a:pathLst>
                <a:path h="555625" w="4445595">
                  <a:moveTo>
                    <a:pt x="0" y="0"/>
                  </a:moveTo>
                  <a:lnTo>
                    <a:pt x="4445595" y="0"/>
                  </a:lnTo>
                  <a:lnTo>
                    <a:pt x="4445595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445595" cy="574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Energy Efficiency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61431" y="3863429"/>
            <a:ext cx="4114800" cy="2560141"/>
            <a:chOff x="0" y="0"/>
            <a:chExt cx="5486400" cy="34135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00" cy="3413522"/>
            </a:xfrm>
            <a:custGeom>
              <a:avLst/>
              <a:gdLst/>
              <a:ahLst/>
              <a:cxnLst/>
              <a:rect r="r" b="b" t="t" l="l"/>
              <a:pathLst>
                <a:path h="341352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413522"/>
                  </a:lnTo>
                  <a:lnTo>
                    <a:pt x="0" y="34135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5486400" cy="349924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A measure of how effectively a system utilizes power to perform its tasks. Designing for energy efficiency reduces power consumption and minimizes heat generation.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29234" y="7633841"/>
            <a:ext cx="9563100" cy="2390180"/>
            <a:chOff x="0" y="0"/>
            <a:chExt cx="12750800" cy="318690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50800" cy="3186938"/>
            </a:xfrm>
            <a:custGeom>
              <a:avLst/>
              <a:gdLst/>
              <a:ahLst/>
              <a:cxnLst/>
              <a:rect r="r" b="b" t="t" l="l"/>
              <a:pathLst>
                <a:path h="3186938" w="12750800">
                  <a:moveTo>
                    <a:pt x="0" y="53340"/>
                  </a:moveTo>
                  <a:cubicBezTo>
                    <a:pt x="0" y="23876"/>
                    <a:pt x="23876" y="0"/>
                    <a:pt x="53340" y="0"/>
                  </a:cubicBezTo>
                  <a:lnTo>
                    <a:pt x="12697460" y="0"/>
                  </a:lnTo>
                  <a:cubicBezTo>
                    <a:pt x="12726924" y="0"/>
                    <a:pt x="12750800" y="23876"/>
                    <a:pt x="12750800" y="53340"/>
                  </a:cubicBezTo>
                  <a:lnTo>
                    <a:pt x="12750800" y="3133598"/>
                  </a:lnTo>
                  <a:cubicBezTo>
                    <a:pt x="12750800" y="3163062"/>
                    <a:pt x="12726924" y="3186938"/>
                    <a:pt x="12697460" y="3186938"/>
                  </a:cubicBezTo>
                  <a:lnTo>
                    <a:pt x="53340" y="3186938"/>
                  </a:lnTo>
                  <a:cubicBezTo>
                    <a:pt x="23876" y="3186938"/>
                    <a:pt x="0" y="3163062"/>
                    <a:pt x="0" y="3133598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020868" y="7633841"/>
            <a:ext cx="3334196" cy="416719"/>
            <a:chOff x="0" y="0"/>
            <a:chExt cx="4445595" cy="5556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45595" cy="555625"/>
            </a:xfrm>
            <a:custGeom>
              <a:avLst/>
              <a:gdLst/>
              <a:ahLst/>
              <a:cxnLst/>
              <a:rect r="r" b="b" t="t" l="l"/>
              <a:pathLst>
                <a:path h="555625" w="4445595">
                  <a:moveTo>
                    <a:pt x="0" y="0"/>
                  </a:moveTo>
                  <a:lnTo>
                    <a:pt x="4445595" y="0"/>
                  </a:lnTo>
                  <a:lnTo>
                    <a:pt x="4445595" y="555625"/>
                  </a:lnTo>
                  <a:lnTo>
                    <a:pt x="0" y="5556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445595" cy="574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49"/>
                </a:lnSpc>
              </a:pPr>
              <a:r>
                <a:rPr lang="en-US" sz="2625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Thermal Management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295934" y="8618264"/>
            <a:ext cx="9029700" cy="1280071"/>
            <a:chOff x="0" y="0"/>
            <a:chExt cx="12039600" cy="170676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039600" cy="1706762"/>
            </a:xfrm>
            <a:custGeom>
              <a:avLst/>
              <a:gdLst/>
              <a:ahLst/>
              <a:cxnLst/>
              <a:rect r="r" b="b" t="t" l="l"/>
              <a:pathLst>
                <a:path h="1706762" w="12039600">
                  <a:moveTo>
                    <a:pt x="0" y="0"/>
                  </a:moveTo>
                  <a:lnTo>
                    <a:pt x="12039600" y="0"/>
                  </a:lnTo>
                  <a:lnTo>
                    <a:pt x="12039600" y="1706762"/>
                  </a:lnTo>
                  <a:lnTo>
                    <a:pt x="0" y="17067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12039600" cy="17924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Methods to dissipate heat generated by the processor, ensuring its stable operation. Efficient cooling solutions are essential for high-performance systems.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99569" y="907616"/>
            <a:ext cx="7088237" cy="885974"/>
            <a:chOff x="0" y="0"/>
            <a:chExt cx="9450983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450984" cy="1181298"/>
            </a:xfrm>
            <a:custGeom>
              <a:avLst/>
              <a:gdLst/>
              <a:ahLst/>
              <a:cxnLst/>
              <a:rect r="r" b="b" t="t" l="l"/>
              <a:pathLst>
                <a:path h="1181298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Trends in Cost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1723165" y="2960489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45055" y="3952726"/>
            <a:ext cx="2864941" cy="885825"/>
            <a:chOff x="0" y="0"/>
            <a:chExt cx="3819922" cy="1181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19922" cy="1181100"/>
            </a:xfrm>
            <a:custGeom>
              <a:avLst/>
              <a:gdLst/>
              <a:ahLst/>
              <a:cxnLst/>
              <a:rect r="r" b="b" t="t" l="l"/>
              <a:pathLst>
                <a:path h="1181100" w="3819922">
                  <a:moveTo>
                    <a:pt x="0" y="0"/>
                  </a:moveTo>
                  <a:lnTo>
                    <a:pt x="3819922" y="0"/>
                  </a:lnTo>
                  <a:lnTo>
                    <a:pt x="3819922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3819922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Manufacturing Processes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5055" y="5235475"/>
            <a:ext cx="2864941" cy="3175398"/>
            <a:chOff x="0" y="0"/>
            <a:chExt cx="3819922" cy="42338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9922" cy="4233863"/>
            </a:xfrm>
            <a:custGeom>
              <a:avLst/>
              <a:gdLst/>
              <a:ahLst/>
              <a:cxnLst/>
              <a:rect r="r" b="b" t="t" l="l"/>
              <a:pathLst>
                <a:path h="4233863" w="3819922">
                  <a:moveTo>
                    <a:pt x="0" y="0"/>
                  </a:moveTo>
                  <a:lnTo>
                    <a:pt x="3819922" y="0"/>
                  </a:lnTo>
                  <a:lnTo>
                    <a:pt x="3819922" y="4233863"/>
                  </a:lnTo>
                  <a:lnTo>
                    <a:pt x="0" y="42338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3819922" cy="43195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Advancements in semiconductor fabrication techniques, leading to cost reductions and increased transistor density.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8286454" y="2960489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7399641" y="3952726"/>
            <a:ext cx="2865090" cy="442912"/>
            <a:chOff x="0" y="0"/>
            <a:chExt cx="3820120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20120" cy="590550"/>
            </a:xfrm>
            <a:custGeom>
              <a:avLst/>
              <a:gdLst/>
              <a:ahLst/>
              <a:cxnLst/>
              <a:rect r="r" b="b" t="t" l="l"/>
              <a:pathLst>
                <a:path h="590550" w="3820120">
                  <a:moveTo>
                    <a:pt x="0" y="0"/>
                  </a:moveTo>
                  <a:lnTo>
                    <a:pt x="3820120" y="0"/>
                  </a:lnTo>
                  <a:lnTo>
                    <a:pt x="3820120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820120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Commoditization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99641" y="5462289"/>
            <a:ext cx="2865090" cy="2721769"/>
            <a:chOff x="0" y="0"/>
            <a:chExt cx="3820120" cy="36290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20120" cy="3629025"/>
            </a:xfrm>
            <a:custGeom>
              <a:avLst/>
              <a:gdLst/>
              <a:ahLst/>
              <a:cxnLst/>
              <a:rect r="r" b="b" t="t" l="l"/>
              <a:pathLst>
                <a:path h="3629025" w="3820120">
                  <a:moveTo>
                    <a:pt x="0" y="0"/>
                  </a:moveTo>
                  <a:lnTo>
                    <a:pt x="3820120" y="0"/>
                  </a:lnTo>
                  <a:lnTo>
                    <a:pt x="3820120" y="3629025"/>
                  </a:lnTo>
                  <a:lnTo>
                    <a:pt x="0" y="36290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3820120" cy="371475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Increased competition and mass production of integrated circuits, driving down prices over time.</a:t>
              </a:r>
            </a:p>
          </p:txBody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14430672" y="2960489"/>
            <a:ext cx="708720" cy="708720"/>
          </a:xfrm>
          <a:custGeom>
            <a:avLst/>
            <a:gdLst/>
            <a:ahLst/>
            <a:cxnLst/>
            <a:rect r="r" b="b" t="t" l="l"/>
            <a:pathLst>
              <a:path h="708720" w="708720">
                <a:moveTo>
                  <a:pt x="0" y="0"/>
                </a:moveTo>
                <a:lnTo>
                  <a:pt x="708720" y="0"/>
                </a:lnTo>
                <a:lnTo>
                  <a:pt x="708720" y="708720"/>
                </a:lnTo>
                <a:lnTo>
                  <a:pt x="0" y="7087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4430672" y="3952726"/>
            <a:ext cx="2864941" cy="885825"/>
            <a:chOff x="0" y="0"/>
            <a:chExt cx="3819922" cy="1181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19922" cy="1181100"/>
            </a:xfrm>
            <a:custGeom>
              <a:avLst/>
              <a:gdLst/>
              <a:ahLst/>
              <a:cxnLst/>
              <a:rect r="r" b="b" t="t" l="l"/>
              <a:pathLst>
                <a:path h="1181100" w="3819922">
                  <a:moveTo>
                    <a:pt x="0" y="0"/>
                  </a:moveTo>
                  <a:lnTo>
                    <a:pt x="3819922" y="0"/>
                  </a:lnTo>
                  <a:lnTo>
                    <a:pt x="3819922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819922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Pricing Structures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30672" y="5008661"/>
            <a:ext cx="2864941" cy="3629025"/>
            <a:chOff x="0" y="0"/>
            <a:chExt cx="3819922" cy="4838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819922" cy="4838700"/>
            </a:xfrm>
            <a:custGeom>
              <a:avLst/>
              <a:gdLst/>
              <a:ahLst/>
              <a:cxnLst/>
              <a:rect r="r" b="b" t="t" l="l"/>
              <a:pathLst>
                <a:path h="4838700" w="3819922">
                  <a:moveTo>
                    <a:pt x="0" y="0"/>
                  </a:moveTo>
                  <a:lnTo>
                    <a:pt x="3819922" y="0"/>
                  </a:lnTo>
                  <a:lnTo>
                    <a:pt x="3819922" y="4838700"/>
                  </a:lnTo>
                  <a:lnTo>
                    <a:pt x="0" y="48387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3819922" cy="49244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Variable pricing based on factors like volume, design complexity, and market demand, influencing the overall cost of integrated circuits.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356866"/>
            <a:ext cx="10554295" cy="885974"/>
            <a:chOff x="0" y="0"/>
            <a:chExt cx="14072393" cy="1181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072394" cy="1181298"/>
            </a:xfrm>
            <a:custGeom>
              <a:avLst/>
              <a:gdLst/>
              <a:ahLst/>
              <a:cxnLst/>
              <a:rect r="r" b="b" t="t" l="l"/>
              <a:pathLst>
                <a:path h="1181298" w="14072394">
                  <a:moveTo>
                    <a:pt x="0" y="0"/>
                  </a:moveTo>
                  <a:lnTo>
                    <a:pt x="14072394" y="0"/>
                  </a:lnTo>
                  <a:lnTo>
                    <a:pt x="1407239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072393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Beyond Traditional Architectures</a:t>
              </a:r>
            </a:p>
          </p:txBody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992238" y="2668041"/>
            <a:ext cx="1417588" cy="2087315"/>
          </a:xfrm>
          <a:custGeom>
            <a:avLst/>
            <a:gdLst/>
            <a:ahLst/>
            <a:cxnLst/>
            <a:rect r="r" b="b" t="t" l="l"/>
            <a:pathLst>
              <a:path h="2087315" w="1417588">
                <a:moveTo>
                  <a:pt x="0" y="0"/>
                </a:moveTo>
                <a:lnTo>
                  <a:pt x="1417587" y="0"/>
                </a:lnTo>
                <a:lnTo>
                  <a:pt x="1417587" y="2087315"/>
                </a:lnTo>
                <a:lnTo>
                  <a:pt x="0" y="20873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9" t="0" r="-89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835027" y="2951560"/>
            <a:ext cx="3544044" cy="442912"/>
            <a:chOff x="0" y="0"/>
            <a:chExt cx="4725392" cy="5905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Quantum Computing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35027" y="3564582"/>
            <a:ext cx="14460736" cy="907256"/>
            <a:chOff x="0" y="0"/>
            <a:chExt cx="19280982" cy="12096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8098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9280981">
                  <a:moveTo>
                    <a:pt x="0" y="0"/>
                  </a:moveTo>
                  <a:lnTo>
                    <a:pt x="19280981" y="0"/>
                  </a:lnTo>
                  <a:lnTo>
                    <a:pt x="19280981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19280982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Exploiting quantum phenomena, like superposition and entanglement, to solve problems intractable for classical computers.</a:t>
              </a:r>
            </a:p>
          </p:txBody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992238" y="4755356"/>
            <a:ext cx="1417588" cy="2087315"/>
          </a:xfrm>
          <a:custGeom>
            <a:avLst/>
            <a:gdLst/>
            <a:ahLst/>
            <a:cxnLst/>
            <a:rect r="r" b="b" t="t" l="l"/>
            <a:pathLst>
              <a:path h="2087315" w="1417588">
                <a:moveTo>
                  <a:pt x="0" y="0"/>
                </a:moveTo>
                <a:lnTo>
                  <a:pt x="1417587" y="0"/>
                </a:lnTo>
                <a:lnTo>
                  <a:pt x="1417587" y="2087315"/>
                </a:lnTo>
                <a:lnTo>
                  <a:pt x="0" y="20873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9" t="0" r="-89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2835027" y="5038874"/>
            <a:ext cx="4175522" cy="442912"/>
            <a:chOff x="0" y="0"/>
            <a:chExt cx="5567363" cy="590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67363" cy="590550"/>
            </a:xfrm>
            <a:custGeom>
              <a:avLst/>
              <a:gdLst/>
              <a:ahLst/>
              <a:cxnLst/>
              <a:rect r="r" b="b" t="t" l="l"/>
              <a:pathLst>
                <a:path h="590550" w="5567363">
                  <a:moveTo>
                    <a:pt x="0" y="0"/>
                  </a:moveTo>
                  <a:lnTo>
                    <a:pt x="5567363" y="0"/>
                  </a:lnTo>
                  <a:lnTo>
                    <a:pt x="556736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5567363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Neuromorphic Computing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35027" y="5651896"/>
            <a:ext cx="14460736" cy="907256"/>
            <a:chOff x="0" y="0"/>
            <a:chExt cx="19280982" cy="12096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8098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9280981">
                  <a:moveTo>
                    <a:pt x="0" y="0"/>
                  </a:moveTo>
                  <a:lnTo>
                    <a:pt x="19280981" y="0"/>
                  </a:lnTo>
                  <a:lnTo>
                    <a:pt x="19280981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85725"/>
              <a:ext cx="19280982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Inspired by the human brain, using artificial neural networks to process information in a more efficient and parallel manner.</a:t>
              </a:r>
            </a:p>
          </p:txBody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992238" y="6842671"/>
            <a:ext cx="1417588" cy="2087315"/>
          </a:xfrm>
          <a:custGeom>
            <a:avLst/>
            <a:gdLst/>
            <a:ahLst/>
            <a:cxnLst/>
            <a:rect r="r" b="b" t="t" l="l"/>
            <a:pathLst>
              <a:path h="2087315" w="1417588">
                <a:moveTo>
                  <a:pt x="0" y="0"/>
                </a:moveTo>
                <a:lnTo>
                  <a:pt x="1417587" y="0"/>
                </a:lnTo>
                <a:lnTo>
                  <a:pt x="1417587" y="2087315"/>
                </a:lnTo>
                <a:lnTo>
                  <a:pt x="0" y="20873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" t="0" r="-89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835027" y="7126189"/>
            <a:ext cx="3544044" cy="442912"/>
            <a:chOff x="0" y="0"/>
            <a:chExt cx="4725392" cy="5905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Edge Computing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35027" y="7739211"/>
            <a:ext cx="14460736" cy="907256"/>
            <a:chOff x="0" y="0"/>
            <a:chExt cx="19280982" cy="12096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8098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9280981">
                  <a:moveTo>
                    <a:pt x="0" y="0"/>
                  </a:moveTo>
                  <a:lnTo>
                    <a:pt x="19280981" y="0"/>
                  </a:lnTo>
                  <a:lnTo>
                    <a:pt x="19280981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85725"/>
              <a:ext cx="19280982" cy="129540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Shifting processing and data storage closer to the source of data, reducing latency and improving responsiveness for applications.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1F2D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CFBF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2887861"/>
            <a:ext cx="9627245" cy="1033701"/>
            <a:chOff x="0" y="0"/>
            <a:chExt cx="12836327" cy="13782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836327" cy="1378268"/>
            </a:xfrm>
            <a:custGeom>
              <a:avLst/>
              <a:gdLst/>
              <a:ahLst/>
              <a:cxnLst/>
              <a:rect r="r" b="b" t="t" l="l"/>
              <a:pathLst>
                <a:path h="1378268" w="12836327">
                  <a:moveTo>
                    <a:pt x="0" y="0"/>
                  </a:moveTo>
                  <a:lnTo>
                    <a:pt x="12836327" y="0"/>
                  </a:lnTo>
                  <a:lnTo>
                    <a:pt x="12836327" y="1378268"/>
                  </a:lnTo>
                  <a:lnTo>
                    <a:pt x="0" y="13782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836327" cy="14068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233E32"/>
                  </a:solidFill>
                  <a:latin typeface="Alice"/>
                  <a:ea typeface="Alice"/>
                  <a:cs typeface="Alice"/>
                  <a:sym typeface="Alice"/>
                </a:rPr>
                <a:t>Key Takeaways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517975"/>
            <a:ext cx="637878" cy="637877"/>
            <a:chOff x="0" y="0"/>
            <a:chExt cx="850503" cy="8505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575" y="4571108"/>
            <a:ext cx="425202" cy="531614"/>
            <a:chOff x="0" y="0"/>
            <a:chExt cx="566937" cy="708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913632" y="4517975"/>
            <a:ext cx="3544044" cy="442912"/>
            <a:chOff x="0" y="0"/>
            <a:chExt cx="4725392" cy="5905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Dynamic Field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913632" y="5130999"/>
            <a:ext cx="4324052" cy="1360885"/>
            <a:chOff x="0" y="0"/>
            <a:chExt cx="5765403" cy="18145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5404" cy="1814513"/>
            </a:xfrm>
            <a:custGeom>
              <a:avLst/>
              <a:gdLst/>
              <a:ahLst/>
              <a:cxnLst/>
              <a:rect r="r" b="b" t="t" l="l"/>
              <a:pathLst>
                <a:path h="1814513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5765403" cy="190023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Computer architecture is a dynamic field driven by technological advancements.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21202" y="4517975"/>
            <a:ext cx="637878" cy="637877"/>
            <a:chOff x="0" y="0"/>
            <a:chExt cx="850503" cy="8505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27540" y="4571108"/>
            <a:ext cx="425203" cy="531614"/>
            <a:chOff x="0" y="0"/>
            <a:chExt cx="566937" cy="7088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442598" y="4517975"/>
            <a:ext cx="3649861" cy="442912"/>
            <a:chOff x="0" y="0"/>
            <a:chExt cx="4866482" cy="5905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866482" cy="590550"/>
            </a:xfrm>
            <a:custGeom>
              <a:avLst/>
              <a:gdLst/>
              <a:ahLst/>
              <a:cxnLst/>
              <a:rect r="r" b="b" t="t" l="l"/>
              <a:pathLst>
                <a:path h="590550" w="4866482">
                  <a:moveTo>
                    <a:pt x="0" y="0"/>
                  </a:moveTo>
                  <a:lnTo>
                    <a:pt x="4866482" y="0"/>
                  </a:lnTo>
                  <a:lnTo>
                    <a:pt x="486648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486648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Fundamental Concepts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442598" y="5130999"/>
            <a:ext cx="4324052" cy="1814512"/>
            <a:chOff x="0" y="0"/>
            <a:chExt cx="5765403" cy="24193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765404" cy="2419350"/>
            </a:xfrm>
            <a:custGeom>
              <a:avLst/>
              <a:gdLst/>
              <a:ahLst/>
              <a:cxnLst/>
              <a:rect r="r" b="b" t="t" l="l"/>
              <a:pathLst>
                <a:path h="2419350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2419350"/>
                  </a:lnTo>
                  <a:lnTo>
                    <a:pt x="0" y="2419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5765403" cy="25050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Understanding the fundamental concepts of computer architecture provides a strong foundation.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50166" y="4517975"/>
            <a:ext cx="637877" cy="637877"/>
            <a:chOff x="0" y="0"/>
            <a:chExt cx="850503" cy="85050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0EDE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156505" y="4571108"/>
            <a:ext cx="425203" cy="531614"/>
            <a:chOff x="0" y="0"/>
            <a:chExt cx="566937" cy="7088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37" cy="708818"/>
            </a:xfrm>
            <a:custGeom>
              <a:avLst/>
              <a:gdLst/>
              <a:ahLst/>
              <a:cxnLst/>
              <a:rect r="r" b="b" t="t" l="l"/>
              <a:pathLst>
                <a:path h="708818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708818"/>
                  </a:lnTo>
                  <a:lnTo>
                    <a:pt x="0" y="708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47625"/>
              <a:ext cx="566937" cy="6611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312"/>
                </a:lnSpc>
              </a:pPr>
              <a:r>
                <a:rPr lang="en-US" sz="3312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3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971561" y="4517975"/>
            <a:ext cx="3544044" cy="442912"/>
            <a:chOff x="0" y="0"/>
            <a:chExt cx="4725392" cy="5905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2C2821"/>
                  </a:solidFill>
                  <a:latin typeface="Alice"/>
                  <a:ea typeface="Alice"/>
                  <a:cs typeface="Alice"/>
                  <a:sym typeface="Alice"/>
                </a:rPr>
                <a:t>Staying Updated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71561" y="5130999"/>
            <a:ext cx="4324052" cy="2268141"/>
            <a:chOff x="0" y="0"/>
            <a:chExt cx="5765403" cy="30241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765404" cy="3024188"/>
            </a:xfrm>
            <a:custGeom>
              <a:avLst/>
              <a:gdLst/>
              <a:ahLst/>
              <a:cxnLst/>
              <a:rect r="r" b="b" t="t" l="l"/>
              <a:pathLst>
                <a:path h="3024188" w="5765404">
                  <a:moveTo>
                    <a:pt x="0" y="0"/>
                  </a:moveTo>
                  <a:lnTo>
                    <a:pt x="5765404" y="0"/>
                  </a:lnTo>
                  <a:lnTo>
                    <a:pt x="5765404" y="3024188"/>
                  </a:lnTo>
                  <a:lnTo>
                    <a:pt x="0" y="3024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5765403" cy="310991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2C2821"/>
                  </a:solidFill>
                  <a:latin typeface="Lora"/>
                  <a:ea typeface="Lora"/>
                  <a:cs typeface="Lora"/>
                  <a:sym typeface="Lora"/>
                </a:rPr>
                <a:t>By keeping abreast of emerging trends and advancements in the field, individuals can effectively participate in shaping the future of computing.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DAGg9Q-0JH4</dc:identifier>
  <dcterms:modified xsi:type="dcterms:W3CDTF">2011-08-01T06:04:30Z</dcterms:modified>
  <cp:revision>1</cp:revision>
  <dc:title>Computer-Architecture-An-Exploration.pptx</dc:title>
</cp:coreProperties>
</file>